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485"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22EF-136D-330B-1C58-255E766B9425}"/>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27C8B4F8-FCD2-C16C-94B1-E3DAE6DB09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0E7092A8-01E3-83C5-87C9-62A5E0C122C2}"/>
              </a:ext>
            </a:extLst>
          </p:cNvPr>
          <p:cNvSpPr>
            <a:spLocks noGrp="1"/>
          </p:cNvSpPr>
          <p:nvPr>
            <p:ph type="dt" idx="10"/>
          </p:nvPr>
        </p:nvSpPr>
        <p:spPr/>
        <p:txBody>
          <a:bodyPr/>
          <a:lstStyle/>
          <a:p>
            <a:fld id="{32506C46-75DB-4A6D-B145-FDB679446E85}" type="datetimeFigureOut">
              <a:t>6/26/2026</a:t>
            </a:fld>
            <a:endParaRPr/>
          </a:p>
        </p:txBody>
      </p:sp>
      <p:sp>
        <p:nvSpPr>
          <p:cNvPr id="5" name="Footer Placeholder 4">
            <a:extLst>
              <a:ext uri="{FF2B5EF4-FFF2-40B4-BE49-F238E27FC236}">
                <a16:creationId xmlns:a16="http://schemas.microsoft.com/office/drawing/2014/main" id="{8ED5E268-1F54-4FA6-79DA-1168121F62A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43DA7A0-A5DF-2D75-2F1C-5EE13D384D85}"/>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5BBDE-8288-39CE-4268-B2EF506114A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427BC3E-022B-2563-E2C9-3071507EDEA3}"/>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12D22750-71C4-30A3-5F8F-8BCF7297124A}"/>
              </a:ext>
            </a:extLst>
          </p:cNvPr>
          <p:cNvSpPr>
            <a:spLocks noGrp="1"/>
          </p:cNvSpPr>
          <p:nvPr>
            <p:ph type="dt" idx="10"/>
          </p:nvPr>
        </p:nvSpPr>
        <p:spPr/>
        <p:txBody>
          <a:bodyPr/>
          <a:lstStyle/>
          <a:p>
            <a:fld id="{32506C46-75DB-4A6D-B145-FDB679446E85}" type="datetimeFigureOut">
              <a:t>6/26/2026</a:t>
            </a:fld>
            <a:endParaRPr/>
          </a:p>
        </p:txBody>
      </p:sp>
      <p:sp>
        <p:nvSpPr>
          <p:cNvPr id="5" name="Footer Placeholder 4">
            <a:extLst>
              <a:ext uri="{FF2B5EF4-FFF2-40B4-BE49-F238E27FC236}">
                <a16:creationId xmlns:a16="http://schemas.microsoft.com/office/drawing/2014/main" id="{5AA9CE1D-0504-68C2-BA5C-615A672DC25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19CC2AC-BD5F-FEA9-4077-42FC81914B2C}"/>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776EE-A144-38D9-F9A7-732D18947239}"/>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4EFA65E1-90F3-8A37-91B1-08E61DBBFC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CBACB2CA-51AE-97C5-532E-943F87727E68}"/>
              </a:ext>
            </a:extLst>
          </p:cNvPr>
          <p:cNvSpPr>
            <a:spLocks noGrp="1"/>
          </p:cNvSpPr>
          <p:nvPr>
            <p:ph type="dt" idx="10"/>
          </p:nvPr>
        </p:nvSpPr>
        <p:spPr/>
        <p:txBody>
          <a:bodyPr/>
          <a:lstStyle/>
          <a:p>
            <a:fld id="{32506C46-75DB-4A6D-B145-FDB679446E85}" type="datetimeFigureOut">
              <a:t>6/26/2026</a:t>
            </a:fld>
            <a:endParaRPr/>
          </a:p>
        </p:txBody>
      </p:sp>
      <p:sp>
        <p:nvSpPr>
          <p:cNvPr id="5" name="Footer Placeholder 4">
            <a:extLst>
              <a:ext uri="{FF2B5EF4-FFF2-40B4-BE49-F238E27FC236}">
                <a16:creationId xmlns:a16="http://schemas.microsoft.com/office/drawing/2014/main" id="{0695D1F5-D39E-70B5-3B17-FBDBBAB5A69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95AC0C4-0A47-98D6-1864-A2B23D6089FD}"/>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8BBB5-A810-18F6-EF16-D0FF8E43028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284F9FA-D1C3-08C4-3E85-3473F523EDA0}"/>
              </a:ext>
            </a:extLst>
          </p:cNvPr>
          <p:cNvSpPr>
            <a:spLocks noGrp="1"/>
          </p:cNvSpPr>
          <p:nvPr>
            <p:ph idx="1"/>
          </p:nvPr>
        </p:nvSpPr>
        <p:spPr>
          <a:xfrm>
            <a:off x="838200" y="1825625"/>
            <a:ext cx="5181600" cy="435133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6DB20038-1908-FCE6-104F-1BFE709C50EA}"/>
              </a:ext>
            </a:extLst>
          </p:cNvPr>
          <p:cNvSpPr>
            <a:spLocks noGrp="1"/>
          </p:cNvSpPr>
          <p:nvPr>
            <p:ph idx="2"/>
          </p:nvPr>
        </p:nvSpPr>
        <p:spPr>
          <a:xfrm>
            <a:off x="6172200" y="1825625"/>
            <a:ext cx="5181600" cy="435133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99D660FC-8B79-C230-A629-66193551682F}"/>
              </a:ext>
            </a:extLst>
          </p:cNvPr>
          <p:cNvSpPr>
            <a:spLocks noGrp="1"/>
          </p:cNvSpPr>
          <p:nvPr>
            <p:ph type="dt" idx="10"/>
          </p:nvPr>
        </p:nvSpPr>
        <p:spPr/>
        <p:txBody>
          <a:bodyPr/>
          <a:lstStyle/>
          <a:p>
            <a:fld id="{32506C46-75DB-4A6D-B145-FDB679446E85}" type="datetimeFigureOut">
              <a:t>6/26/2026</a:t>
            </a:fld>
            <a:endParaRPr/>
          </a:p>
        </p:txBody>
      </p:sp>
      <p:sp>
        <p:nvSpPr>
          <p:cNvPr id="6" name="Footer Placeholder 5">
            <a:extLst>
              <a:ext uri="{FF2B5EF4-FFF2-40B4-BE49-F238E27FC236}">
                <a16:creationId xmlns:a16="http://schemas.microsoft.com/office/drawing/2014/main" id="{5DAE46C9-9E9E-D8D8-C9FF-7F4295C781C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18D5D8A-A523-13D8-4EED-C38668A3FC13}"/>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55FB-A5EE-1256-74AB-3E318DA8A373}"/>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165B1AD-9D6F-41D2-4BAB-9999A59478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1FE71378-504C-8556-191A-D3265642518F}"/>
              </a:ext>
            </a:extLst>
          </p:cNvPr>
          <p:cNvSpPr>
            <a:spLocks noGrp="1"/>
          </p:cNvSpPr>
          <p:nvPr>
            <p:ph idx="2"/>
          </p:nvPr>
        </p:nvSpPr>
        <p:spPr>
          <a:xfrm>
            <a:off x="839788" y="2505075"/>
            <a:ext cx="5157787" cy="368458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C980402F-930D-DFCE-7C32-3FF4A76C956F}"/>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5EB46A36-87F5-2D78-7988-9F4FCABB0794}"/>
              </a:ext>
            </a:extLst>
          </p:cNvPr>
          <p:cNvSpPr>
            <a:spLocks noGrp="1"/>
          </p:cNvSpPr>
          <p:nvPr>
            <p:ph idx="4"/>
          </p:nvPr>
        </p:nvSpPr>
        <p:spPr>
          <a:xfrm>
            <a:off x="6172200" y="2505075"/>
            <a:ext cx="5183188" cy="368458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C4CEAC6B-7ECD-A20E-D942-68AD13CFFF23}"/>
              </a:ext>
            </a:extLst>
          </p:cNvPr>
          <p:cNvSpPr>
            <a:spLocks noGrp="1"/>
          </p:cNvSpPr>
          <p:nvPr>
            <p:ph type="dt" idx="10"/>
          </p:nvPr>
        </p:nvSpPr>
        <p:spPr/>
        <p:txBody>
          <a:bodyPr/>
          <a:lstStyle/>
          <a:p>
            <a:fld id="{32506C46-75DB-4A6D-B145-FDB679446E85}" type="datetimeFigureOut">
              <a:t>6/26/2026</a:t>
            </a:fld>
            <a:endParaRPr/>
          </a:p>
        </p:txBody>
      </p:sp>
      <p:sp>
        <p:nvSpPr>
          <p:cNvPr id="8" name="Footer Placeholder 7">
            <a:extLst>
              <a:ext uri="{FF2B5EF4-FFF2-40B4-BE49-F238E27FC236}">
                <a16:creationId xmlns:a16="http://schemas.microsoft.com/office/drawing/2014/main" id="{93CB9397-5A7E-D714-E5CE-CBBC9C457288}"/>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5455475C-E894-7E7D-F63A-200697AE177C}"/>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0A792-2E68-FE78-3D24-EDFCBFB8A401}"/>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A3FB8840-79B9-7DD5-72E3-206595D8AF36}"/>
              </a:ext>
            </a:extLst>
          </p:cNvPr>
          <p:cNvSpPr>
            <a:spLocks noGrp="1"/>
          </p:cNvSpPr>
          <p:nvPr>
            <p:ph type="dt" idx="10"/>
          </p:nvPr>
        </p:nvSpPr>
        <p:spPr/>
        <p:txBody>
          <a:bodyPr/>
          <a:lstStyle/>
          <a:p>
            <a:fld id="{32506C46-75DB-4A6D-B145-FDB679446E85}" type="datetimeFigureOut">
              <a:t>6/26/2026</a:t>
            </a:fld>
            <a:endParaRPr/>
          </a:p>
        </p:txBody>
      </p:sp>
      <p:sp>
        <p:nvSpPr>
          <p:cNvPr id="4" name="Footer Placeholder 3">
            <a:extLst>
              <a:ext uri="{FF2B5EF4-FFF2-40B4-BE49-F238E27FC236}">
                <a16:creationId xmlns:a16="http://schemas.microsoft.com/office/drawing/2014/main" id="{3FF49ED6-3CBB-2A95-7662-987701E90686}"/>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AA23B524-DA82-730C-AE4A-315FAEB46C6A}"/>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350E47-BDC7-D62C-1931-71149F71C2BF}"/>
              </a:ext>
            </a:extLst>
          </p:cNvPr>
          <p:cNvSpPr>
            <a:spLocks noGrp="1"/>
          </p:cNvSpPr>
          <p:nvPr>
            <p:ph type="dt" idx="10"/>
          </p:nvPr>
        </p:nvSpPr>
        <p:spPr/>
        <p:txBody>
          <a:bodyPr/>
          <a:lstStyle/>
          <a:p>
            <a:fld id="{32506C46-75DB-4A6D-B145-FDB679446E85}" type="datetimeFigureOut">
              <a:t>6/26/2026</a:t>
            </a:fld>
            <a:endParaRPr/>
          </a:p>
        </p:txBody>
      </p:sp>
      <p:sp>
        <p:nvSpPr>
          <p:cNvPr id="3" name="Footer Placeholder 2">
            <a:extLst>
              <a:ext uri="{FF2B5EF4-FFF2-40B4-BE49-F238E27FC236}">
                <a16:creationId xmlns:a16="http://schemas.microsoft.com/office/drawing/2014/main" id="{8D50C739-649B-5169-EAD2-98690D7581E7}"/>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A80C673-759E-AF45-4CD4-79C7F58137DA}"/>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8FBCC-A493-EC70-74F0-8B7875CE2235}"/>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639CDBEF-3316-DFF5-4938-DA3BA4B37EFA}"/>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4484110E-2EA1-09C7-295C-42BD4F00CC39}"/>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B0A9ADE2-5680-1A12-AAC1-62916C24FE48}"/>
              </a:ext>
            </a:extLst>
          </p:cNvPr>
          <p:cNvSpPr>
            <a:spLocks noGrp="1"/>
          </p:cNvSpPr>
          <p:nvPr>
            <p:ph type="dt" idx="10"/>
          </p:nvPr>
        </p:nvSpPr>
        <p:spPr/>
        <p:txBody>
          <a:bodyPr/>
          <a:lstStyle/>
          <a:p>
            <a:fld id="{32506C46-75DB-4A6D-B145-FDB679446E85}" type="datetimeFigureOut">
              <a:t>6/26/2026</a:t>
            </a:fld>
            <a:endParaRPr/>
          </a:p>
        </p:txBody>
      </p:sp>
      <p:sp>
        <p:nvSpPr>
          <p:cNvPr id="6" name="Footer Placeholder 5">
            <a:extLst>
              <a:ext uri="{FF2B5EF4-FFF2-40B4-BE49-F238E27FC236}">
                <a16:creationId xmlns:a16="http://schemas.microsoft.com/office/drawing/2014/main" id="{1F179E2D-4EEF-CD37-DA9F-3F477DA8C08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6FBC198-0CB6-97E0-9619-4C8BF87D1FC6}"/>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39F58-BABE-67BA-D8E2-EF48E8A7EAB8}"/>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C30F0722-576B-A410-E8C5-5675132BAF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4F9B605-1E8C-9955-5323-241DAA851EDC}"/>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F4CDFBA3-67EC-84B5-7D0D-A5291969785F}"/>
              </a:ext>
            </a:extLst>
          </p:cNvPr>
          <p:cNvSpPr>
            <a:spLocks noGrp="1"/>
          </p:cNvSpPr>
          <p:nvPr>
            <p:ph type="dt" idx="10"/>
          </p:nvPr>
        </p:nvSpPr>
        <p:spPr/>
        <p:txBody>
          <a:bodyPr/>
          <a:lstStyle/>
          <a:p>
            <a:fld id="{32506C46-75DB-4A6D-B145-FDB679446E85}" type="datetimeFigureOut">
              <a:t>6/26/2026</a:t>
            </a:fld>
            <a:endParaRPr/>
          </a:p>
        </p:txBody>
      </p:sp>
      <p:sp>
        <p:nvSpPr>
          <p:cNvPr id="6" name="Footer Placeholder 5">
            <a:extLst>
              <a:ext uri="{FF2B5EF4-FFF2-40B4-BE49-F238E27FC236}">
                <a16:creationId xmlns:a16="http://schemas.microsoft.com/office/drawing/2014/main" id="{9CB5D31A-2CDB-52B2-A082-54CAFDE4118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71A7513-555C-4C34-537B-B3062CF1F55C}"/>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EA123-4053-F273-9007-3CED234A4FE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F0E6AAB-671E-C869-BB69-1DFD3B2D8D83}"/>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9509380B-1A1A-00C0-EB68-D2913E66CF40}"/>
              </a:ext>
            </a:extLst>
          </p:cNvPr>
          <p:cNvSpPr>
            <a:spLocks noGrp="1"/>
          </p:cNvSpPr>
          <p:nvPr>
            <p:ph type="dt" idx="10"/>
          </p:nvPr>
        </p:nvSpPr>
        <p:spPr/>
        <p:txBody>
          <a:bodyPr/>
          <a:lstStyle/>
          <a:p>
            <a:fld id="{32506C46-75DB-4A6D-B145-FDB679446E85}" type="datetimeFigureOut">
              <a:t>6/26/2026</a:t>
            </a:fld>
            <a:endParaRPr/>
          </a:p>
        </p:txBody>
      </p:sp>
      <p:sp>
        <p:nvSpPr>
          <p:cNvPr id="5" name="Footer Placeholder 4">
            <a:extLst>
              <a:ext uri="{FF2B5EF4-FFF2-40B4-BE49-F238E27FC236}">
                <a16:creationId xmlns:a16="http://schemas.microsoft.com/office/drawing/2014/main" id="{610C56CA-C662-A926-69F4-13D18B69B52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7FA61FB-F509-6015-F18F-423C655791E1}"/>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CD84D6-8ED8-304D-0FF9-1EDE45787CA5}"/>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64441C3F-ED62-1D8D-D531-19371249B02A}"/>
              </a:ext>
            </a:extLst>
          </p:cNvPr>
          <p:cNvSpPr>
            <a:spLocks noGrp="1"/>
          </p:cNvSpPr>
          <p:nvPr>
            <p:ph type="body" idx="1"/>
          </p:nvPr>
        </p:nvSpPr>
        <p:spPr>
          <a:xfrm>
            <a:off x="838200" y="365125"/>
            <a:ext cx="7734300" cy="5811838"/>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F092E5D5-69FC-371A-6B24-249025811326}"/>
              </a:ext>
            </a:extLst>
          </p:cNvPr>
          <p:cNvSpPr>
            <a:spLocks noGrp="1"/>
          </p:cNvSpPr>
          <p:nvPr>
            <p:ph type="dt" idx="10"/>
          </p:nvPr>
        </p:nvSpPr>
        <p:spPr/>
        <p:txBody>
          <a:bodyPr/>
          <a:lstStyle/>
          <a:p>
            <a:fld id="{32506C46-75DB-4A6D-B145-FDB679446E85}" type="datetimeFigureOut">
              <a:t>6/26/2026</a:t>
            </a:fld>
            <a:endParaRPr/>
          </a:p>
        </p:txBody>
      </p:sp>
      <p:sp>
        <p:nvSpPr>
          <p:cNvPr id="5" name="Footer Placeholder 4">
            <a:extLst>
              <a:ext uri="{FF2B5EF4-FFF2-40B4-BE49-F238E27FC236}">
                <a16:creationId xmlns:a16="http://schemas.microsoft.com/office/drawing/2014/main" id="{6E1641EF-8520-1ABC-3B70-8E5A59EBA44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99CD843-159A-3EF2-52E8-31D9879924E0}"/>
              </a:ext>
            </a:extLst>
          </p:cNvPr>
          <p:cNvSpPr>
            <a:spLocks noGrp="1"/>
          </p:cNvSpPr>
          <p:nvPr>
            <p:ph type="sldNum" idx="12"/>
          </p:nvPr>
        </p:nvSpPr>
        <p:spPr/>
        <p:txBody>
          <a:bodyPr/>
          <a:lstStyle/>
          <a:p>
            <a:fld id="{84B7156B-D944-4D1D-ABF5-9DCAD5159501}"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7DC679-EC49-5F25-41D7-A08210CCED7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26A3982B-BF69-B19B-9FE9-ED1F16FF01E2}"/>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F63360A9-8CCE-5624-05FA-CA24C1C733D7}"/>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32506C46-75DB-4A6D-B145-FDB679446E85}" type="datetimeFigureOut">
              <a:t>6/26/2026</a:t>
            </a:fld>
            <a:endParaRPr/>
          </a:p>
        </p:txBody>
      </p:sp>
      <p:sp>
        <p:nvSpPr>
          <p:cNvPr id="5" name="Footer Placeholder 4">
            <a:extLst>
              <a:ext uri="{FF2B5EF4-FFF2-40B4-BE49-F238E27FC236}">
                <a16:creationId xmlns:a16="http://schemas.microsoft.com/office/drawing/2014/main" id="{BCA07DF0-59FD-EE2C-749A-7A4A99FD18A7}"/>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603C47B5-3E8B-37F9-BA8A-72129D4DBA33}"/>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84B7156B-D944-4D1D-ABF5-9DCAD5159501}"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3AC5A7-BD23-167D-A9A2-4AE41D0438C8}"/>
              </a:ext>
            </a:extLst>
          </p:cNvPr>
          <p:cNvSpPr>
            <a:spLocks noGrp="1"/>
          </p:cNvSpPr>
          <p:nvPr/>
        </p:nvSpPr>
        <p:spPr>
          <a:xfrm>
            <a:off x="1445341" y="2263355"/>
            <a:ext cx="9448800" cy="400110"/>
          </a:xfrm>
          <a:prstGeom prst="rect">
            <a:avLst/>
          </a:prstGeom>
          <a:noFill/>
        </p:spPr>
        <p:txBody>
          <a:bodyPr wrap="square">
            <a:spAutoFit/>
          </a:bodyPr>
          <a:lstStyle/>
          <a:p>
            <a:r>
              <a:rPr sz="2000" b="1">
                <a:latin typeface="Times New Roman"/>
                <a:ea typeface="Times New Roman"/>
                <a:cs typeface="Times New Roman"/>
              </a:rPr>
              <a:t>Pneumonia Detection Using Deep Learning</a:t>
            </a:r>
          </a:p>
        </p:txBody>
      </p:sp>
      <p:sp>
        <p:nvSpPr>
          <p:cNvPr id="6" name="TextBox 5">
            <a:extLst>
              <a:ext uri="{FF2B5EF4-FFF2-40B4-BE49-F238E27FC236}">
                <a16:creationId xmlns:a16="http://schemas.microsoft.com/office/drawing/2014/main" id="{B9DDCDFF-BEED-5540-186B-239C128F9ED8}"/>
              </a:ext>
            </a:extLst>
          </p:cNvPr>
          <p:cNvSpPr>
            <a:spLocks noGrp="1"/>
          </p:cNvSpPr>
          <p:nvPr/>
        </p:nvSpPr>
        <p:spPr>
          <a:xfrm>
            <a:off x="4285251" y="3065800"/>
            <a:ext cx="3974165" cy="1754326"/>
          </a:xfrm>
          <a:prstGeom prst="rect">
            <a:avLst/>
          </a:prstGeom>
          <a:noFill/>
        </p:spPr>
        <p:txBody>
          <a:bodyPr wrap="none">
            <a:spAutoFit/>
          </a:bodyPr>
          <a:lstStyle/>
          <a:p>
            <a:r>
              <a:rPr b="1">
                <a:latin typeface="Times New Roman"/>
                <a:ea typeface="Times New Roman"/>
                <a:cs typeface="Times New Roman"/>
              </a:rPr>
              <a:t> Team Details : Batch No: 12</a:t>
            </a:r>
          </a:p>
          <a:p>
            <a:pPr>
              <a:buNone/>
            </a:pPr>
            <a:r>
              <a:rPr>
                <a:latin typeface="Times New Roman"/>
                <a:ea typeface="Times New Roman"/>
                <a:cs typeface="Times New Roman"/>
              </a:rPr>
              <a:t>CH.AKSHITHA   23K91A0556</a:t>
            </a:r>
          </a:p>
          <a:p>
            <a:pPr>
              <a:buNone/>
            </a:pPr>
            <a:r>
              <a:rPr>
                <a:latin typeface="Times New Roman"/>
                <a:ea typeface="Times New Roman"/>
                <a:cs typeface="Times New Roman"/>
              </a:rPr>
              <a:t>B.SATVIK KUMAR   23K91A0541</a:t>
            </a:r>
          </a:p>
          <a:p>
            <a:pPr>
              <a:buNone/>
            </a:pPr>
            <a:r>
              <a:rPr>
                <a:latin typeface="Times New Roman"/>
                <a:ea typeface="Times New Roman"/>
                <a:cs typeface="Times New Roman"/>
              </a:rPr>
              <a:t>A.ABHITHEJ REDDY   23K91A0515</a:t>
            </a:r>
          </a:p>
          <a:p>
            <a:pPr>
              <a:buNone/>
            </a:pPr>
            <a:r>
              <a:rPr>
                <a:latin typeface="Times New Roman"/>
                <a:ea typeface="Times New Roman"/>
                <a:cs typeface="Times New Roman"/>
              </a:rPr>
              <a:t>D.LIKHITHA   23K91A0565</a:t>
            </a:r>
          </a:p>
        </p:txBody>
      </p:sp>
      <p:sp>
        <p:nvSpPr>
          <p:cNvPr id="8" name="TextBox 7">
            <a:extLst>
              <a:ext uri="{FF2B5EF4-FFF2-40B4-BE49-F238E27FC236}">
                <a16:creationId xmlns:a16="http://schemas.microsoft.com/office/drawing/2014/main" id="{80BFC4FE-249E-D6C3-D2F3-45FDA395FCAD}"/>
              </a:ext>
            </a:extLst>
          </p:cNvPr>
          <p:cNvSpPr>
            <a:spLocks noGrp="1"/>
          </p:cNvSpPr>
          <p:nvPr/>
        </p:nvSpPr>
        <p:spPr>
          <a:xfrm>
            <a:off x="5142270" y="5177974"/>
            <a:ext cx="2418737" cy="923330"/>
          </a:xfrm>
          <a:prstGeom prst="rect">
            <a:avLst/>
          </a:prstGeom>
          <a:noFill/>
        </p:spPr>
        <p:txBody>
          <a:bodyPr wrap="square">
            <a:spAutoFit/>
          </a:bodyPr>
          <a:lstStyle/>
          <a:p>
            <a:r>
              <a:rPr b="1">
                <a:latin typeface="Times New Roman"/>
                <a:ea typeface="Times New Roman"/>
                <a:cs typeface="Times New Roman"/>
              </a:rPr>
              <a:t>Under the guidance of</a:t>
            </a:r>
          </a:p>
          <a:p>
            <a:r>
              <a:rPr>
                <a:latin typeface="Times New Roman"/>
                <a:ea typeface="Times New Roman"/>
                <a:cs typeface="Times New Roman"/>
              </a:rPr>
              <a:t>V.MEENAKSHI</a:t>
            </a:r>
          </a:p>
          <a:p>
            <a:r>
              <a:rPr>
                <a:latin typeface="Times New Roman"/>
                <a:ea typeface="Times New Roman"/>
                <a:cs typeface="Times New Roman"/>
              </a:rPr>
              <a:t>(Assistant Professor)</a:t>
            </a:r>
          </a:p>
        </p:txBody>
      </p:sp>
      <p:pic>
        <p:nvPicPr>
          <p:cNvPr id="13" name="Picture 4"/>
          <p:cNvPicPr>
            <a:picLocks noChangeAspect="1"/>
          </p:cNvPicPr>
          <p:nvPr/>
        </p:nvPicPr>
        <p:blipFill>
          <a:blip r:embed="rId3"/>
          <a:stretch>
            <a:fillRect/>
          </a:stretch>
        </p:blipFill>
        <p:spPr>
          <a:xfrm>
            <a:off x="1078784" y="674549"/>
            <a:ext cx="9667875" cy="1000125"/>
          </a:xfrm>
          <a:prstGeom prst="rect">
            <a:avLst/>
          </a:prstGeom>
        </p:spPr>
      </p:pic>
      <p:sp>
        <p:nvSpPr>
          <p:cNvPr id="3" name="Rounded Rectangle 13">
            <a:extLst>
              <a:ext uri="{FF2B5EF4-FFF2-40B4-BE49-F238E27FC236}">
                <a16:creationId xmlns:a16="http://schemas.microsoft.com/office/drawing/2014/main" id="{F527717E-D126-411A-66BD-EE6999AC6AAE}"/>
              </a:ext>
            </a:extLst>
          </p:cNvPr>
          <p:cNvSpPr>
            <a:spLocks noGrp="1"/>
          </p:cNvSpPr>
          <p:nvPr/>
        </p:nvSpPr>
        <p:spPr>
          <a:xfrm>
            <a:off x="806241" y="6459153"/>
            <a:ext cx="10498238" cy="25293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chemeClr val="accent6">
                    <a:lumMod val="40000"/>
                    <a:lumOff val="60000"/>
                  </a:schemeClr>
                </a:solidFill>
                <a:latin typeface="Copperplate Gothic Bold"/>
                <a:ea typeface="Copperplate Gothic Bold"/>
                <a:cs typeface="Copperplate Gothic Bold"/>
              </a:rPr>
              <a:t>CSE </a:t>
            </a:r>
          </a:p>
        </p:txBody>
      </p:sp>
    </p:spTree>
    <p:extLst>
      <p:ext uri="{BB962C8B-B14F-4D97-AF65-F5344CB8AC3E}">
        <p14:creationId xmlns:p14="http://schemas.microsoft.com/office/powerpoint/2010/main" val="567188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
          <p:cNvPicPr>
            <a:picLocks noChangeAspect="1"/>
          </p:cNvPicPr>
          <p:nvPr/>
        </p:nvPicPr>
        <p:blipFill>
          <a:blip r:embed="rId3"/>
          <a:stretch>
            <a:fillRect/>
          </a:stretch>
        </p:blipFill>
        <p:spPr>
          <a:xfrm>
            <a:off x="1262062" y="503586"/>
            <a:ext cx="9667875" cy="1000125"/>
          </a:xfrm>
          <a:prstGeom prst="rect">
            <a:avLst/>
          </a:prstGeom>
        </p:spPr>
      </p:pic>
      <p:sp>
        <p:nvSpPr>
          <p:cNvPr id="3" name="TextBox 2">
            <a:extLst>
              <a:ext uri="{FF2B5EF4-FFF2-40B4-BE49-F238E27FC236}">
                <a16:creationId xmlns:a16="http://schemas.microsoft.com/office/drawing/2014/main" id="{3E5ECF93-794D-7F3D-8401-7493F37AAE93}"/>
              </a:ext>
            </a:extLst>
          </p:cNvPr>
          <p:cNvSpPr>
            <a:spLocks noGrp="1"/>
          </p:cNvSpPr>
          <p:nvPr/>
        </p:nvSpPr>
        <p:spPr>
          <a:xfrm>
            <a:off x="1465007" y="2015614"/>
            <a:ext cx="5594555" cy="461665"/>
          </a:xfrm>
          <a:prstGeom prst="rect">
            <a:avLst/>
          </a:prstGeom>
          <a:noFill/>
        </p:spPr>
        <p:txBody>
          <a:bodyPr wrap="square">
            <a:spAutoFit/>
          </a:bodyPr>
          <a:lstStyle/>
          <a:p>
            <a:r>
              <a:rPr sz="2400" b="1" u="sng">
                <a:latin typeface="Times New Roman"/>
                <a:ea typeface="Times New Roman"/>
                <a:cs typeface="Times New Roman"/>
              </a:rPr>
              <a:t>Table of Contents</a:t>
            </a:r>
          </a:p>
        </p:txBody>
      </p:sp>
      <p:sp>
        <p:nvSpPr>
          <p:cNvPr id="4" name="TextBox 3">
            <a:extLst>
              <a:ext uri="{FF2B5EF4-FFF2-40B4-BE49-F238E27FC236}">
                <a16:creationId xmlns:a16="http://schemas.microsoft.com/office/drawing/2014/main" id="{C92C4C02-D8AC-5DA0-CAB6-EBC47BC841EE}"/>
              </a:ext>
            </a:extLst>
          </p:cNvPr>
          <p:cNvSpPr>
            <a:spLocks noGrp="1"/>
          </p:cNvSpPr>
          <p:nvPr/>
        </p:nvSpPr>
        <p:spPr>
          <a:xfrm>
            <a:off x="-4762500" y="-4762500"/>
            <a:ext cx="9525" cy="9525"/>
          </a:xfrm>
          <a:prstGeom prst="rect">
            <a:avLst/>
          </a:prstGeom>
          <a:noFill/>
        </p:spPr>
        <p:txBody>
          <a:bodyPr wrap="square">
            <a:spAutoFit/>
          </a:bodyPr>
          <a:lstStyle/>
          <a:p>
            <a:pPr>
              <a:buNone/>
              <a:defRPr sz="1575" b="0">
                <a:solidFill>
                  <a:srgbClr val="000000"/>
                </a:solidFill>
              </a:defRPr>
            </a:pPr>
            <a:endParaRPr/>
          </a:p>
        </p:txBody>
      </p:sp>
      <p:sp>
        <p:nvSpPr>
          <p:cNvPr id="6" name="TextBox 5">
            <a:extLst>
              <a:ext uri="{FF2B5EF4-FFF2-40B4-BE49-F238E27FC236}">
                <a16:creationId xmlns:a16="http://schemas.microsoft.com/office/drawing/2014/main" id="{BB705FAC-2724-E5C8-144D-B30EC1F20286}"/>
              </a:ext>
            </a:extLst>
          </p:cNvPr>
          <p:cNvSpPr>
            <a:spLocks noGrp="1"/>
          </p:cNvSpPr>
          <p:nvPr/>
        </p:nvSpPr>
        <p:spPr>
          <a:xfrm>
            <a:off x="-4762500" y="-4762500"/>
            <a:ext cx="9525" cy="9525"/>
          </a:xfrm>
          <a:prstGeom prst="rect">
            <a:avLst/>
          </a:prstGeom>
          <a:noFill/>
        </p:spPr>
        <p:txBody>
          <a:bodyPr wrap="square">
            <a:spAutoFit/>
          </a:bodyPr>
          <a:lstStyle/>
          <a:p>
            <a:pPr marL="285750" indent="-285750">
              <a:lnSpc>
                <a:spcPct val="150000"/>
              </a:lnSpc>
              <a:buChar char="q"/>
            </a:pPr>
            <a:endParaRPr/>
          </a:p>
        </p:txBody>
      </p:sp>
      <p:sp>
        <p:nvSpPr>
          <p:cNvPr id="5" name="Rounded Rectangle 13">
            <a:extLst>
              <a:ext uri="{FF2B5EF4-FFF2-40B4-BE49-F238E27FC236}">
                <a16:creationId xmlns:a16="http://schemas.microsoft.com/office/drawing/2014/main" id="{FC24D120-D392-5F13-39A3-0D0A8CA33CF5}"/>
              </a:ext>
            </a:extLst>
          </p:cNvPr>
          <p:cNvSpPr>
            <a:spLocks noGrp="1"/>
          </p:cNvSpPr>
          <p:nvPr/>
        </p:nvSpPr>
        <p:spPr>
          <a:xfrm>
            <a:off x="806241" y="6459153"/>
            <a:ext cx="10498238" cy="25293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chemeClr val="accent6">
                    <a:lumMod val="40000"/>
                    <a:lumOff val="60000"/>
                  </a:schemeClr>
                </a:solidFill>
                <a:latin typeface="Copperplate Gothic Bold"/>
                <a:ea typeface="Copperplate Gothic Bold"/>
                <a:cs typeface="Copperplate Gothic Bold"/>
              </a:rPr>
              <a:t>CSE </a:t>
            </a:r>
          </a:p>
        </p:txBody>
      </p:sp>
      <p:sp>
        <p:nvSpPr>
          <p:cNvPr id="8" name="Cover old bullet markers">
            <a:extLst>
              <a:ext uri="{FF2B5EF4-FFF2-40B4-BE49-F238E27FC236}">
                <a16:creationId xmlns:a16="http://schemas.microsoft.com/office/drawing/2014/main" id="{EA852B45-E95D-4395-BF96-BDD6581A2096}"/>
              </a:ext>
            </a:extLst>
          </p:cNvPr>
          <p:cNvSpPr>
            <a:spLocks noGrp="1"/>
          </p:cNvSpPr>
          <p:nvPr/>
        </p:nvSpPr>
        <p:spPr>
          <a:xfrm>
            <a:off x="1238250" y="2857500"/>
            <a:ext cx="6572250" cy="2476500"/>
          </a:xfrm>
          <a:prstGeom prst="rect">
            <a:avLst/>
          </a:prstGeom>
          <a:solidFill>
            <a:srgbClr val="FFFFFF"/>
          </a:solidFill>
          <a:ln w="0">
            <a:solidFill>
              <a:srgbClr val="FFFFFF"/>
            </a:solidFill>
            <a:prstDash val="solid"/>
          </a:ln>
        </p:spPr>
      </p:sp>
      <p:sp>
        <p:nvSpPr>
          <p:cNvPr id="9" name="Arrow Only Table of Contents">
            <a:extLst>
              <a:ext uri="{FF2B5EF4-FFF2-40B4-BE49-F238E27FC236}">
                <a16:creationId xmlns:a16="http://schemas.microsoft.com/office/drawing/2014/main" id="{356A18A9-6686-46B3-B232-4A7090371FDC}"/>
              </a:ext>
            </a:extLst>
          </p:cNvPr>
          <p:cNvSpPr>
            <a:spLocks noGrp="1"/>
          </p:cNvSpPr>
          <p:nvPr/>
        </p:nvSpPr>
        <p:spPr>
          <a:xfrm>
            <a:off x="1562100" y="3028950"/>
            <a:ext cx="5905500" cy="2476500"/>
          </a:xfrm>
          <a:prstGeom prst="rect">
            <a:avLst/>
          </a:prstGeom>
          <a:noFill/>
          <a:ln w="0">
            <a:noFill/>
            <a:prstDash val="solid"/>
          </a:ln>
        </p:spPr>
        <p:txBody>
          <a:bodyPr/>
          <a:lstStyle/>
          <a:p>
            <a:pPr>
              <a:defRPr sz="1800">
                <a:solidFill>
                  <a:srgbClr val="000000"/>
                </a:solidFill>
              </a:defRPr>
            </a:pPr>
            <a:r>
              <a:rPr sz="1800">
                <a:solidFill>
                  <a:srgbClr val="000000"/>
                </a:solidFill>
              </a:rPr>
              <a:t>-&gt; Introduction</a:t>
            </a:r>
          </a:p>
          <a:p>
            <a:pPr>
              <a:defRPr sz="1800">
                <a:solidFill>
                  <a:srgbClr val="000000"/>
                </a:solidFill>
              </a:defRPr>
            </a:pPr>
            <a:r>
              <a:rPr sz="1800">
                <a:solidFill>
                  <a:srgbClr val="000000"/>
                </a:solidFill>
              </a:rPr>
              <a:t>-&gt; Abstract</a:t>
            </a:r>
          </a:p>
          <a:p>
            <a:pPr>
              <a:defRPr sz="1800">
                <a:solidFill>
                  <a:srgbClr val="000000"/>
                </a:solidFill>
              </a:defRPr>
            </a:pPr>
            <a:r>
              <a:rPr sz="1800">
                <a:solidFill>
                  <a:srgbClr val="000000"/>
                </a:solidFill>
              </a:rPr>
              <a:t>-&gt; Domain Knowledge</a:t>
            </a:r>
          </a:p>
          <a:p>
            <a:pPr>
              <a:defRPr sz="1800">
                <a:solidFill>
                  <a:srgbClr val="000000"/>
                </a:solidFill>
              </a:defRPr>
            </a:pPr>
            <a:r>
              <a:rPr sz="1800">
                <a:solidFill>
                  <a:srgbClr val="000000"/>
                </a:solidFill>
              </a:rPr>
              <a:t>-&gt; Technology Awareness</a:t>
            </a:r>
          </a:p>
          <a:p>
            <a:pPr>
              <a:defRPr sz="1800">
                <a:solidFill>
                  <a:srgbClr val="000000"/>
                </a:solidFill>
              </a:defRPr>
            </a:pPr>
            <a:r>
              <a:rPr sz="1800">
                <a:solidFill>
                  <a:srgbClr val="000000"/>
                </a:solidFill>
              </a:rPr>
              <a:t>-&gt; Existing System</a:t>
            </a:r>
          </a:p>
          <a:p>
            <a:pPr>
              <a:defRPr sz="1800">
                <a:solidFill>
                  <a:srgbClr val="000000"/>
                </a:solidFill>
              </a:defRPr>
            </a:pPr>
            <a:r>
              <a:rPr sz="1800">
                <a:solidFill>
                  <a:srgbClr val="000000"/>
                </a:solidFill>
              </a:rPr>
              <a:t>-&gt; Limitations of Existing System</a:t>
            </a:r>
          </a:p>
        </p:txBody>
      </p:sp>
    </p:spTree>
    <p:extLst>
      <p:ext uri="{BB962C8B-B14F-4D97-AF65-F5344CB8AC3E}">
        <p14:creationId xmlns:p14="http://schemas.microsoft.com/office/powerpoint/2010/main" val="39203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08C451-A4B6-ACF5-C1F0-D98942312AF0}"/>
              </a:ext>
            </a:extLst>
          </p:cNvPr>
          <p:cNvSpPr>
            <a:spLocks noGrp="1"/>
          </p:cNvSpPr>
          <p:nvPr/>
        </p:nvSpPr>
        <p:spPr>
          <a:xfrm>
            <a:off x="4650658" y="1518985"/>
            <a:ext cx="2135456" cy="523220"/>
          </a:xfrm>
          <a:prstGeom prst="rect">
            <a:avLst/>
          </a:prstGeom>
          <a:noFill/>
        </p:spPr>
        <p:txBody>
          <a:bodyPr wrap="none">
            <a:spAutoFit/>
          </a:bodyPr>
          <a:lstStyle/>
          <a:p>
            <a:r>
              <a:rPr sz="2800" b="1" u="sng">
                <a:latin typeface="Times New Roman"/>
                <a:ea typeface="Times New Roman"/>
                <a:cs typeface="Times New Roman"/>
              </a:rPr>
              <a:t>Introduction</a:t>
            </a:r>
          </a:p>
        </p:txBody>
      </p:sp>
      <p:sp>
        <p:nvSpPr>
          <p:cNvPr id="17" name="TextBox 16">
            <a:extLst>
              <a:ext uri="{FF2B5EF4-FFF2-40B4-BE49-F238E27FC236}">
                <a16:creationId xmlns:a16="http://schemas.microsoft.com/office/drawing/2014/main" id="{75836CF6-0014-AA95-4500-CD1705E1641F}"/>
              </a:ext>
            </a:extLst>
          </p:cNvPr>
          <p:cNvSpPr>
            <a:spLocks noGrp="1"/>
          </p:cNvSpPr>
          <p:nvPr/>
        </p:nvSpPr>
        <p:spPr>
          <a:xfrm>
            <a:off x="1376517" y="2758294"/>
            <a:ext cx="9920748" cy="3657600"/>
          </a:xfrm>
          <a:prstGeom prst="rect">
            <a:avLst/>
          </a:prstGeom>
          <a:noFill/>
        </p:spPr>
        <p:txBody>
          <a:bodyPr wrap="square">
            <a:spAutoFit/>
          </a:bodyPr>
          <a:lstStyle/>
          <a:p>
            <a:pPr marL="285750" indent="-285750">
              <a:buChar char="•"/>
            </a:pPr>
            <a:r>
              <a:rPr b="1">
                <a:latin typeface="Times New Roman"/>
                <a:ea typeface="Times New Roman"/>
                <a:cs typeface="Times New Roman"/>
              </a:rPr>
              <a:t>Pneumonia is a serious lung infection that affects the air sacs in one or both lungs. If it is not detected early, it can become life-threatening, especially for children and elderly people.</a:t>
            </a:r>
          </a:p>
          <a:p>
            <a:pPr marL="285750" indent="-285750">
              <a:buChar char="•"/>
            </a:pPr>
            <a:endParaRPr b="1">
              <a:latin typeface="Times New Roman"/>
              <a:ea typeface="Times New Roman"/>
              <a:cs typeface="Times New Roman"/>
            </a:endParaRPr>
          </a:p>
          <a:p>
            <a:pPr marL="285750" indent="-285750">
              <a:buChar char="•"/>
            </a:pPr>
            <a:r>
              <a:rPr b="1">
                <a:latin typeface="Times New Roman"/>
                <a:ea typeface="Times New Roman"/>
                <a:cs typeface="Times New Roman"/>
              </a:rPr>
              <a:t>Chest X-ray imaging is one of the most common and low-cost methods used for pneumonia diagnosis. However, manual X-ray analysis depends on radiologists and may take more time when patient load is high.</a:t>
            </a:r>
          </a:p>
          <a:p>
            <a:pPr marL="285750" indent="-285750">
              <a:buChar char="•"/>
            </a:pPr>
            <a:endParaRPr b="1">
              <a:latin typeface="Times New Roman"/>
              <a:ea typeface="Times New Roman"/>
              <a:cs typeface="Times New Roman"/>
            </a:endParaRPr>
          </a:p>
          <a:p>
            <a:pPr marL="285750" indent="-285750">
              <a:buChar char="•"/>
            </a:pPr>
            <a:r>
              <a:rPr b="1">
                <a:latin typeface="Times New Roman"/>
                <a:ea typeface="Times New Roman"/>
                <a:cs typeface="Times New Roman"/>
              </a:rPr>
              <a:t>This project, Pneumonia Detection Using Deep Learning, develops an intelligent system that accepts a chest X-ray image, preprocesses it, extracts important image features, and classifies it as Normal, Bacterial Pneumonia, or Viral Pneumonia.</a:t>
            </a:r>
          </a:p>
          <a:p>
            <a:pPr marL="285750" indent="-285750">
              <a:buChar char="•"/>
            </a:pPr>
            <a:endParaRPr b="1">
              <a:latin typeface="Times New Roman"/>
              <a:ea typeface="Times New Roman"/>
              <a:cs typeface="Times New Roman"/>
            </a:endParaRPr>
          </a:p>
          <a:p>
            <a:pPr marL="285750" indent="-285750">
              <a:buChar char="•"/>
            </a:pPr>
            <a:r>
              <a:rPr b="1">
                <a:latin typeface="Times New Roman"/>
                <a:ea typeface="Times New Roman"/>
                <a:cs typeface="Times New Roman"/>
              </a:rPr>
              <a:t>The system uses image processing, CNN-based deep learning, and classification techniques to support faster screening and assist doctors in decision-making.</a:t>
            </a:r>
          </a:p>
        </p:txBody>
      </p:sp>
      <p:pic>
        <p:nvPicPr>
          <p:cNvPr id="21" name="Picture 3"/>
          <p:cNvPicPr>
            <a:picLocks noChangeAspect="1"/>
          </p:cNvPicPr>
          <p:nvPr/>
        </p:nvPicPr>
        <p:blipFill>
          <a:blip r:embed="rId3"/>
          <a:stretch>
            <a:fillRect/>
          </a:stretch>
        </p:blipFill>
        <p:spPr>
          <a:xfrm>
            <a:off x="1262062" y="316773"/>
            <a:ext cx="9667875" cy="1000125"/>
          </a:xfrm>
          <a:prstGeom prst="rect">
            <a:avLst/>
          </a:prstGeom>
        </p:spPr>
      </p:pic>
      <p:sp>
        <p:nvSpPr>
          <p:cNvPr id="3" name="Rounded Rectangle 13">
            <a:extLst>
              <a:ext uri="{FF2B5EF4-FFF2-40B4-BE49-F238E27FC236}">
                <a16:creationId xmlns:a16="http://schemas.microsoft.com/office/drawing/2014/main" id="{2DC49BE8-826C-6A67-536B-374B04986D86}"/>
              </a:ext>
            </a:extLst>
          </p:cNvPr>
          <p:cNvSpPr>
            <a:spLocks noGrp="1"/>
          </p:cNvSpPr>
          <p:nvPr/>
        </p:nvSpPr>
        <p:spPr>
          <a:xfrm>
            <a:off x="806241" y="6459153"/>
            <a:ext cx="10498238" cy="25293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chemeClr val="accent6">
                    <a:lumMod val="40000"/>
                    <a:lumOff val="60000"/>
                  </a:schemeClr>
                </a:solidFill>
                <a:latin typeface="Copperplate Gothic Bold"/>
                <a:ea typeface="Copperplate Gothic Bold"/>
                <a:cs typeface="Copperplate Gothic Bold"/>
              </a:rPr>
              <a:t>CSE </a:t>
            </a:r>
          </a:p>
        </p:txBody>
      </p:sp>
    </p:spTree>
    <p:extLst>
      <p:ext uri="{BB962C8B-B14F-4D97-AF65-F5344CB8AC3E}">
        <p14:creationId xmlns:p14="http://schemas.microsoft.com/office/powerpoint/2010/main" val="4134694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49D7C5-9A4A-2CBA-E81B-BFAF7175C180}"/>
              </a:ext>
            </a:extLst>
          </p:cNvPr>
          <p:cNvSpPr>
            <a:spLocks noGrp="1"/>
          </p:cNvSpPr>
          <p:nvPr/>
        </p:nvSpPr>
        <p:spPr>
          <a:xfrm>
            <a:off x="5125792" y="1582994"/>
            <a:ext cx="1330814" cy="461665"/>
          </a:xfrm>
          <a:prstGeom prst="rect">
            <a:avLst/>
          </a:prstGeom>
          <a:noFill/>
        </p:spPr>
        <p:txBody>
          <a:bodyPr wrap="none">
            <a:spAutoFit/>
          </a:bodyPr>
          <a:lstStyle/>
          <a:p>
            <a:r>
              <a:rPr sz="2400" b="1" u="sng">
                <a:latin typeface="Times New Roman"/>
                <a:ea typeface="Times New Roman"/>
                <a:cs typeface="Times New Roman"/>
              </a:rPr>
              <a:t>Abstract</a:t>
            </a:r>
          </a:p>
        </p:txBody>
      </p:sp>
      <p:sp>
        <p:nvSpPr>
          <p:cNvPr id="3" name="TextBox 2">
            <a:extLst>
              <a:ext uri="{FF2B5EF4-FFF2-40B4-BE49-F238E27FC236}">
                <a16:creationId xmlns:a16="http://schemas.microsoft.com/office/drawing/2014/main" id="{D8ED68C4-A037-B935-6E2B-B180AF1F0DB9}"/>
              </a:ext>
            </a:extLst>
          </p:cNvPr>
          <p:cNvSpPr>
            <a:spLocks noGrp="1"/>
          </p:cNvSpPr>
          <p:nvPr/>
        </p:nvSpPr>
        <p:spPr>
          <a:xfrm>
            <a:off x="349044" y="2340466"/>
            <a:ext cx="11493910" cy="3657600"/>
          </a:xfrm>
          <a:prstGeom prst="rect">
            <a:avLst/>
          </a:prstGeom>
          <a:noFill/>
        </p:spPr>
        <p:txBody>
          <a:bodyPr wrap="square">
            <a:spAutoFit/>
          </a:bodyPr>
          <a:lstStyle/>
          <a:p>
            <a:pPr>
              <a:buNone/>
            </a:pPr>
            <a:r>
              <a:rPr>
                <a:latin typeface="Times New Roman"/>
                <a:ea typeface="Times New Roman"/>
                <a:cs typeface="Times New Roman"/>
              </a:rPr>
              <a:t>               Pneumonia is one of the major health problems affecting children, elderly people, and vulnerable patients worldwide. Early detection is important because delayed diagnosis can lead to severe health complications. Manual diagnosis from chest X-ray images requires expert radiologists and may take more time when patient load is high.</a:t>
            </a:r>
          </a:p>
          <a:p>
            <a:pPr>
              <a:buNone/>
            </a:pPr>
            <a:endParaRPr>
              <a:latin typeface="Times New Roman"/>
              <a:ea typeface="Times New Roman"/>
              <a:cs typeface="Times New Roman"/>
            </a:endParaRPr>
          </a:p>
          <a:p>
            <a:pPr>
              <a:buNone/>
            </a:pPr>
            <a:r>
              <a:rPr>
                <a:latin typeface="Times New Roman"/>
                <a:ea typeface="Times New Roman"/>
                <a:cs typeface="Times New Roman"/>
              </a:rPr>
              <a:t>This project proposes a Pneumonia Detection Using Deep Learning system that analyzes chest X-ray images and classifies them into normal, bacterial pneumonia, or viral pneumonia categories. The system uses preprocessing techniques such as resizing, normalization, enhancement, and augmentation to improve image quality before model training.</a:t>
            </a:r>
          </a:p>
          <a:p>
            <a:pPr>
              <a:buNone/>
            </a:pPr>
            <a:endParaRPr>
              <a:latin typeface="Times New Roman"/>
              <a:ea typeface="Times New Roman"/>
              <a:cs typeface="Times New Roman"/>
            </a:endParaRPr>
          </a:p>
          <a:p>
            <a:pPr>
              <a:buNone/>
            </a:pPr>
            <a:r>
              <a:rPr>
                <a:latin typeface="Times New Roman"/>
                <a:ea typeface="Times New Roman"/>
                <a:cs typeface="Times New Roman"/>
              </a:rPr>
              <a:t>Deep learning models extract useful features from chest X-ray images, while classification methods identify pneumonia accurately. The system can also generate heatmap-based visual explanations that show affected lung regions.</a:t>
            </a:r>
          </a:p>
          <a:p>
            <a:pPr>
              <a:buNone/>
            </a:pPr>
            <a:endParaRPr>
              <a:latin typeface="Times New Roman"/>
              <a:ea typeface="Times New Roman"/>
              <a:cs typeface="Times New Roman"/>
            </a:endParaRPr>
          </a:p>
          <a:p>
            <a:pPr>
              <a:buNone/>
            </a:pPr>
            <a:r>
              <a:rPr>
                <a:latin typeface="Times New Roman"/>
                <a:ea typeface="Times New Roman"/>
                <a:cs typeface="Times New Roman"/>
              </a:rPr>
              <a:t>By using AI, machine learning, and medical image processing, the proposed system helps reduce diagnosis time, supports doctors in screening patients, and provides a low-cost computer-aided pneumonia detection solution.</a:t>
            </a:r>
          </a:p>
        </p:txBody>
      </p:sp>
      <p:pic>
        <p:nvPicPr>
          <p:cNvPr id="8" name="Picture 4"/>
          <p:cNvPicPr>
            <a:picLocks noChangeAspect="1"/>
          </p:cNvPicPr>
          <p:nvPr/>
        </p:nvPicPr>
        <p:blipFill>
          <a:blip r:embed="rId3"/>
          <a:stretch>
            <a:fillRect/>
          </a:stretch>
        </p:blipFill>
        <p:spPr>
          <a:xfrm>
            <a:off x="1262061" y="101089"/>
            <a:ext cx="9667875" cy="1000125"/>
          </a:xfrm>
          <a:prstGeom prst="rect">
            <a:avLst/>
          </a:prstGeom>
        </p:spPr>
      </p:pic>
      <p:sp>
        <p:nvSpPr>
          <p:cNvPr id="4" name="Rounded Rectangle 13">
            <a:extLst>
              <a:ext uri="{FF2B5EF4-FFF2-40B4-BE49-F238E27FC236}">
                <a16:creationId xmlns:a16="http://schemas.microsoft.com/office/drawing/2014/main" id="{8FBFA610-BF28-8C00-DE5C-8E45E720961B}"/>
              </a:ext>
            </a:extLst>
          </p:cNvPr>
          <p:cNvSpPr>
            <a:spLocks noGrp="1"/>
          </p:cNvSpPr>
          <p:nvPr/>
        </p:nvSpPr>
        <p:spPr>
          <a:xfrm>
            <a:off x="806241" y="6459153"/>
            <a:ext cx="10498238" cy="25293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chemeClr val="accent6">
                    <a:lumMod val="40000"/>
                    <a:lumOff val="60000"/>
                  </a:schemeClr>
                </a:solidFill>
                <a:latin typeface="Copperplate Gothic Bold"/>
                <a:ea typeface="Copperplate Gothic Bold"/>
                <a:cs typeface="Copperplate Gothic Bold"/>
              </a:rPr>
              <a:t>CSE </a:t>
            </a:r>
          </a:p>
        </p:txBody>
      </p:sp>
    </p:spTree>
    <p:extLst>
      <p:ext uri="{BB962C8B-B14F-4D97-AF65-F5344CB8AC3E}">
        <p14:creationId xmlns:p14="http://schemas.microsoft.com/office/powerpoint/2010/main" val="517036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294FCF-DBBE-A292-58D4-DB079FED0CF9}"/>
              </a:ext>
            </a:extLst>
          </p:cNvPr>
          <p:cNvSpPr>
            <a:spLocks noGrp="1"/>
          </p:cNvSpPr>
          <p:nvPr/>
        </p:nvSpPr>
        <p:spPr>
          <a:xfrm>
            <a:off x="550606" y="2509327"/>
            <a:ext cx="10844982" cy="3657600"/>
          </a:xfrm>
          <a:prstGeom prst="rect">
            <a:avLst/>
          </a:prstGeom>
          <a:noFill/>
        </p:spPr>
        <p:txBody>
          <a:bodyPr wrap="square">
            <a:spAutoFit/>
          </a:bodyPr>
          <a:lstStyle/>
          <a:p>
            <a:pPr marL="285750" indent="-285750">
              <a:buChar char="•"/>
            </a:pPr>
            <a:r>
              <a:rPr>
                <a:latin typeface="Times New Roman"/>
                <a:ea typeface="Times New Roman"/>
                <a:cs typeface="Times New Roman"/>
              </a:rPr>
              <a:t>The proposed project belongs to the domain of Artificial Intelligence, Machine Learning, Deep Learning, and Medical Image Processing.</a:t>
            </a:r>
          </a:p>
          <a:p>
            <a:pPr marL="285750" indent="-285750">
              <a:buChar char="•"/>
            </a:pPr>
            <a:endParaRPr>
              <a:latin typeface="Times New Roman"/>
              <a:ea typeface="Times New Roman"/>
              <a:cs typeface="Times New Roman"/>
            </a:endParaRPr>
          </a:p>
          <a:p>
            <a:pPr marL="285750" indent="-285750">
              <a:buChar char="•"/>
            </a:pPr>
            <a:r>
              <a:rPr>
                <a:latin typeface="Times New Roman"/>
                <a:ea typeface="Times New Roman"/>
                <a:cs typeface="Times New Roman"/>
              </a:rPr>
              <a:t>Artificial Intelligence enables the system to analyze medical images and make intelligent predictions with less manual effort. Machine Learning helps classify X-ray images based on extracted features and learned patterns.</a:t>
            </a:r>
          </a:p>
          <a:p>
            <a:pPr marL="285750" indent="-285750">
              <a:buChar char="•"/>
            </a:pPr>
            <a:endParaRPr>
              <a:latin typeface="Times New Roman"/>
              <a:ea typeface="Times New Roman"/>
              <a:cs typeface="Times New Roman"/>
            </a:endParaRPr>
          </a:p>
          <a:p>
            <a:pPr marL="285750" indent="-285750">
              <a:buChar char="•"/>
            </a:pPr>
            <a:r>
              <a:rPr>
                <a:latin typeface="Times New Roman"/>
                <a:ea typeface="Times New Roman"/>
                <a:cs typeface="Times New Roman"/>
              </a:rPr>
              <a:t>Deep Learning, especially Convolutional Neural Networks, automatically learns infection patterns, lung opacity, and abnormal regions from chest X-ray images. Pre-trained CNN models such as DenseNet, ResNet, and EfficientNet can be used for feature extraction.</a:t>
            </a:r>
          </a:p>
          <a:p>
            <a:pPr marL="285750" indent="-285750">
              <a:buChar char="•"/>
            </a:pPr>
            <a:endParaRPr>
              <a:latin typeface="Times New Roman"/>
              <a:ea typeface="Times New Roman"/>
              <a:cs typeface="Times New Roman"/>
            </a:endParaRPr>
          </a:p>
          <a:p>
            <a:pPr marL="285750" indent="-285750">
              <a:buChar char="•"/>
            </a:pPr>
            <a:r>
              <a:rPr>
                <a:latin typeface="Times New Roman"/>
                <a:ea typeface="Times New Roman"/>
                <a:cs typeface="Times New Roman"/>
              </a:rPr>
              <a:t>Medical Image Processing improves X-ray quality using resizing, normalization, contrast enhancement, augmentation, CLAHE, and filtering. The main goal is to build an intelligent pneumonia detection system that supports faster healthcare screening.</a:t>
            </a:r>
          </a:p>
        </p:txBody>
      </p:sp>
      <p:sp>
        <p:nvSpPr>
          <p:cNvPr id="3" name="TextBox 2">
            <a:extLst>
              <a:ext uri="{FF2B5EF4-FFF2-40B4-BE49-F238E27FC236}">
                <a16:creationId xmlns:a16="http://schemas.microsoft.com/office/drawing/2014/main" id="{9554663C-F3E4-A941-14D2-C8532F668627}"/>
              </a:ext>
            </a:extLst>
          </p:cNvPr>
          <p:cNvSpPr>
            <a:spLocks noGrp="1"/>
          </p:cNvSpPr>
          <p:nvPr/>
        </p:nvSpPr>
        <p:spPr>
          <a:xfrm>
            <a:off x="4336025" y="1640424"/>
            <a:ext cx="3972232" cy="461665"/>
          </a:xfrm>
          <a:prstGeom prst="rect">
            <a:avLst/>
          </a:prstGeom>
          <a:noFill/>
        </p:spPr>
        <p:txBody>
          <a:bodyPr wrap="square">
            <a:spAutoFit/>
          </a:bodyPr>
          <a:lstStyle/>
          <a:p>
            <a:r>
              <a:rPr sz="2400" b="1" u="sng">
                <a:latin typeface="Times New Roman"/>
                <a:ea typeface="Times New Roman"/>
                <a:cs typeface="Times New Roman"/>
              </a:rPr>
              <a:t>Domain Knowledge</a:t>
            </a:r>
          </a:p>
        </p:txBody>
      </p:sp>
      <p:pic>
        <p:nvPicPr>
          <p:cNvPr id="8" name="Picture 4"/>
          <p:cNvPicPr>
            <a:picLocks noChangeAspect="1"/>
          </p:cNvPicPr>
          <p:nvPr/>
        </p:nvPicPr>
        <p:blipFill>
          <a:blip r:embed="rId3"/>
          <a:stretch>
            <a:fillRect/>
          </a:stretch>
        </p:blipFill>
        <p:spPr>
          <a:xfrm>
            <a:off x="1258530" y="429256"/>
            <a:ext cx="9667875" cy="1000125"/>
          </a:xfrm>
          <a:prstGeom prst="rect">
            <a:avLst/>
          </a:prstGeom>
        </p:spPr>
      </p:pic>
      <p:sp>
        <p:nvSpPr>
          <p:cNvPr id="4" name="Rounded Rectangle 13">
            <a:extLst>
              <a:ext uri="{FF2B5EF4-FFF2-40B4-BE49-F238E27FC236}">
                <a16:creationId xmlns:a16="http://schemas.microsoft.com/office/drawing/2014/main" id="{B9CABED9-BC85-CB32-64C2-4425CCE95EEA}"/>
              </a:ext>
            </a:extLst>
          </p:cNvPr>
          <p:cNvSpPr>
            <a:spLocks noGrp="1"/>
          </p:cNvSpPr>
          <p:nvPr/>
        </p:nvSpPr>
        <p:spPr>
          <a:xfrm>
            <a:off x="806241" y="6459153"/>
            <a:ext cx="10498238" cy="25293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chemeClr val="accent6">
                    <a:lumMod val="40000"/>
                    <a:lumOff val="60000"/>
                  </a:schemeClr>
                </a:solidFill>
                <a:latin typeface="Copperplate Gothic Bold"/>
                <a:ea typeface="Copperplate Gothic Bold"/>
                <a:cs typeface="Copperplate Gothic Bold"/>
              </a:rPr>
              <a:t>CSE </a:t>
            </a:r>
          </a:p>
        </p:txBody>
      </p:sp>
    </p:spTree>
    <p:extLst>
      <p:ext uri="{BB962C8B-B14F-4D97-AF65-F5344CB8AC3E}">
        <p14:creationId xmlns:p14="http://schemas.microsoft.com/office/powerpoint/2010/main" val="1018772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47BC10-8267-EA04-C519-DB2209F60B30}"/>
              </a:ext>
            </a:extLst>
          </p:cNvPr>
          <p:cNvSpPr>
            <a:spLocks noGrp="1"/>
          </p:cNvSpPr>
          <p:nvPr/>
        </p:nvSpPr>
        <p:spPr>
          <a:xfrm>
            <a:off x="3950812" y="1435509"/>
            <a:ext cx="3129446" cy="461665"/>
          </a:xfrm>
          <a:prstGeom prst="rect">
            <a:avLst/>
          </a:prstGeom>
          <a:noFill/>
        </p:spPr>
        <p:txBody>
          <a:bodyPr wrap="none">
            <a:spAutoFit/>
          </a:bodyPr>
          <a:lstStyle/>
          <a:p>
            <a:r>
              <a:rPr sz="2400" b="1" u="sng">
                <a:latin typeface="Times New Roman"/>
                <a:ea typeface="Times New Roman"/>
                <a:cs typeface="Times New Roman"/>
              </a:rPr>
              <a:t>Technology Awareness</a:t>
            </a:r>
          </a:p>
        </p:txBody>
      </p:sp>
      <p:sp>
        <p:nvSpPr>
          <p:cNvPr id="3" name="TextBox 2">
            <a:extLst>
              <a:ext uri="{FF2B5EF4-FFF2-40B4-BE49-F238E27FC236}">
                <a16:creationId xmlns:a16="http://schemas.microsoft.com/office/drawing/2014/main" id="{2EE125FC-534C-6114-C8E2-B5AD779ED0E9}"/>
              </a:ext>
            </a:extLst>
          </p:cNvPr>
          <p:cNvSpPr>
            <a:spLocks noGrp="1"/>
          </p:cNvSpPr>
          <p:nvPr/>
        </p:nvSpPr>
        <p:spPr>
          <a:xfrm>
            <a:off x="1189704" y="2198639"/>
            <a:ext cx="2814488" cy="400110"/>
          </a:xfrm>
          <a:prstGeom prst="rect">
            <a:avLst/>
          </a:prstGeom>
          <a:noFill/>
        </p:spPr>
        <p:txBody>
          <a:bodyPr wrap="none">
            <a:spAutoFit/>
          </a:bodyPr>
          <a:lstStyle/>
          <a:p>
            <a:r>
              <a:rPr sz="2000" b="1" u="sng">
                <a:latin typeface="Times New Roman"/>
                <a:ea typeface="Times New Roman"/>
                <a:cs typeface="Times New Roman"/>
              </a:rPr>
              <a:t>Front end Technologies:</a:t>
            </a:r>
          </a:p>
        </p:txBody>
      </p:sp>
      <p:sp>
        <p:nvSpPr>
          <p:cNvPr id="8" name="Rectangle 3">
            <a:extLst>
              <a:ext uri="{FF2B5EF4-FFF2-40B4-BE49-F238E27FC236}">
                <a16:creationId xmlns:a16="http://schemas.microsoft.com/office/drawing/2014/main" id="{0E6C47F5-7F96-E180-8FC1-7A944A553317}"/>
              </a:ext>
            </a:extLst>
          </p:cNvPr>
          <p:cNvSpPr>
            <a:spLocks noGrp="1"/>
          </p:cNvSpPr>
          <p:nvPr/>
        </p:nvSpPr>
        <p:spPr>
          <a:xfrm>
            <a:off x="1189704" y="2730794"/>
            <a:ext cx="8212505" cy="1754326"/>
          </a:xfrm>
          <a:prstGeom prst="rect">
            <a:avLst/>
          </a:prstGeom>
          <a:noFill/>
          <a:ln>
            <a:noFill/>
          </a:ln>
        </p:spPr>
        <p:txBody>
          <a:bodyPr vert="horz" wrap="none" lIns="91440" tIns="45720" rIns="91440" bIns="45720" anchor="ctr">
            <a:spAutoFit/>
          </a:bodyPr>
          <a:lstStyle/>
          <a:p>
            <a:pPr marL="285750" indent="-285750" algn="l">
              <a:lnSpc>
                <a:spcPct val="100000"/>
              </a:lnSpc>
              <a:spcBef>
                <a:spcPts val="0"/>
              </a:spcBef>
              <a:spcAft>
                <a:spcPts val="0"/>
              </a:spcAft>
              <a:buChar char="•"/>
            </a:pPr>
            <a:r>
              <a:rPr sz="1800" b="0" i="0" u="none" cap="none">
                <a:ln>
                  <a:noFill/>
                </a:ln>
                <a:solidFill>
                  <a:schemeClr val="tx1"/>
                </a:solidFill>
                <a:latin typeface="Times New Roman"/>
                <a:ea typeface="Times New Roman"/>
                <a:cs typeface="Times New Roman"/>
              </a:rPr>
              <a:t>HTML</a:t>
            </a:r>
          </a:p>
          <a:p>
            <a:pPr marL="285750" indent="-285750" algn="l">
              <a:lnSpc>
                <a:spcPct val="100000"/>
              </a:lnSpc>
              <a:spcBef>
                <a:spcPts val="0"/>
              </a:spcBef>
              <a:spcAft>
                <a:spcPts val="0"/>
              </a:spcAft>
              <a:buChar char="•"/>
            </a:pPr>
            <a:r>
              <a:rPr sz="1800" b="0" i="0" u="none" cap="none">
                <a:ln>
                  <a:noFill/>
                </a:ln>
                <a:solidFill>
                  <a:schemeClr val="tx1"/>
                </a:solidFill>
                <a:latin typeface="Times New Roman"/>
                <a:ea typeface="Times New Roman"/>
                <a:cs typeface="Times New Roman"/>
              </a:rPr>
              <a:t>CSS</a:t>
            </a:r>
          </a:p>
          <a:p>
            <a:pPr marL="285750" indent="-285750" algn="l">
              <a:lnSpc>
                <a:spcPct val="100000"/>
              </a:lnSpc>
              <a:spcBef>
                <a:spcPts val="0"/>
              </a:spcBef>
              <a:spcAft>
                <a:spcPts val="0"/>
              </a:spcAft>
              <a:buChar char="•"/>
            </a:pPr>
            <a:r>
              <a:rPr sz="1800" b="0" i="0" u="none" cap="none">
                <a:ln>
                  <a:noFill/>
                </a:ln>
                <a:solidFill>
                  <a:schemeClr val="tx1"/>
                </a:solidFill>
                <a:latin typeface="Times New Roman"/>
                <a:ea typeface="Times New Roman"/>
                <a:cs typeface="Times New Roman"/>
              </a:rPr>
              <a:t>JavaScript</a:t>
            </a:r>
          </a:p>
          <a:p>
            <a:pPr marL="285750" indent="-285750" algn="l">
              <a:lnSpc>
                <a:spcPct val="100000"/>
              </a:lnSpc>
              <a:spcBef>
                <a:spcPts val="0"/>
              </a:spcBef>
              <a:spcAft>
                <a:spcPts val="0"/>
              </a:spcAft>
              <a:buChar char="•"/>
            </a:pPr>
            <a:r>
              <a:rPr sz="1800" b="0" i="0" u="none" cap="none">
                <a:ln>
                  <a:noFill/>
                </a:ln>
                <a:solidFill>
                  <a:schemeClr val="tx1"/>
                </a:solidFill>
                <a:latin typeface="Times New Roman"/>
                <a:ea typeface="Times New Roman"/>
                <a:cs typeface="Times New Roman"/>
              </a:rPr>
              <a:t>Bootstrap</a:t>
            </a:r>
          </a:p>
          <a:p>
            <a:pPr marL="285750" indent="-285750">
              <a:spcBef>
                <a:spcPts val="0"/>
              </a:spcBef>
              <a:spcAft>
                <a:spcPts val="0"/>
              </a:spcAft>
              <a:buChar char="•"/>
            </a:pPr>
            <a:r>
              <a:rPr>
                <a:latin typeface="Times New Roman"/>
                <a:ea typeface="Times New Roman"/>
                <a:cs typeface="Times New Roman"/>
              </a:rPr>
              <a:t>Flask Templates</a:t>
            </a:r>
          </a:p>
          <a:p>
            <a:pPr marL="285750" indent="-285750" algn="l">
              <a:lnSpc>
                <a:spcPct val="100000"/>
              </a:lnSpc>
              <a:spcBef>
                <a:spcPts val="0"/>
              </a:spcBef>
              <a:spcAft>
                <a:spcPts val="0"/>
              </a:spcAft>
              <a:buChar char="•"/>
            </a:pPr>
            <a:endParaRPr>
              <a:latin typeface="Times New Roman"/>
              <a:ea typeface="Times New Roman"/>
              <a:cs typeface="Times New Roman"/>
            </a:endParaRPr>
          </a:p>
        </p:txBody>
      </p:sp>
      <p:sp>
        <p:nvSpPr>
          <p:cNvPr id="9" name="TextBox 8">
            <a:extLst>
              <a:ext uri="{FF2B5EF4-FFF2-40B4-BE49-F238E27FC236}">
                <a16:creationId xmlns:a16="http://schemas.microsoft.com/office/drawing/2014/main" id="{812EC40A-0185-4AF8-676E-B6C13D9652D4}"/>
              </a:ext>
            </a:extLst>
          </p:cNvPr>
          <p:cNvSpPr>
            <a:spLocks noGrp="1"/>
          </p:cNvSpPr>
          <p:nvPr/>
        </p:nvSpPr>
        <p:spPr>
          <a:xfrm>
            <a:off x="1189704" y="4539394"/>
            <a:ext cx="2670026" cy="400110"/>
          </a:xfrm>
          <a:prstGeom prst="rect">
            <a:avLst/>
          </a:prstGeom>
          <a:noFill/>
        </p:spPr>
        <p:txBody>
          <a:bodyPr wrap="none">
            <a:spAutoFit/>
          </a:bodyPr>
          <a:lstStyle/>
          <a:p>
            <a:r>
              <a:rPr sz="2000" b="1" u="sng">
                <a:latin typeface="Times New Roman "/>
                <a:ea typeface="Times New Roman "/>
                <a:cs typeface="Times New Roman "/>
              </a:rPr>
              <a:t>Backend Technologies</a:t>
            </a:r>
            <a:r>
              <a:rPr sz="2000" b="1" u="sng"/>
              <a:t>:</a:t>
            </a:r>
          </a:p>
        </p:txBody>
      </p:sp>
      <p:sp>
        <p:nvSpPr>
          <p:cNvPr id="10" name="Rectangle 3">
            <a:extLst>
              <a:ext uri="{FF2B5EF4-FFF2-40B4-BE49-F238E27FC236}">
                <a16:creationId xmlns:a16="http://schemas.microsoft.com/office/drawing/2014/main" id="{94252856-B753-5C88-DD24-3B76612DC3A3}"/>
              </a:ext>
            </a:extLst>
          </p:cNvPr>
          <p:cNvSpPr>
            <a:spLocks noGrp="1"/>
          </p:cNvSpPr>
          <p:nvPr/>
        </p:nvSpPr>
        <p:spPr>
          <a:xfrm>
            <a:off x="1189704" y="5017275"/>
            <a:ext cx="9482083" cy="1463040"/>
          </a:xfrm>
          <a:prstGeom prst="rect">
            <a:avLst/>
          </a:prstGeom>
          <a:noFill/>
          <a:ln>
            <a:noFill/>
          </a:ln>
        </p:spPr>
        <p:txBody>
          <a:bodyPr vert="horz" wrap="none" lIns="91440" tIns="45720" rIns="91440" bIns="45720" anchor="ctr">
            <a:spAutoFit/>
          </a:bodyPr>
          <a:lstStyle/>
          <a:p>
            <a:pPr marL="285750" indent="-285750" algn="l">
              <a:lnSpc>
                <a:spcPct val="100000"/>
              </a:lnSpc>
              <a:spcBef>
                <a:spcPts val="0"/>
              </a:spcBef>
              <a:spcAft>
                <a:spcPts val="0"/>
              </a:spcAft>
              <a:buChar char="•"/>
            </a:pPr>
            <a:r>
              <a:rPr sz="1800" b="0" i="0" u="none" cap="none">
                <a:ln>
                  <a:noFill/>
                </a:ln>
                <a:solidFill>
                  <a:schemeClr val="tx1"/>
                </a:solidFill>
                <a:latin typeface="Times New Roman"/>
                <a:ea typeface="Times New Roman"/>
                <a:cs typeface="Times New Roman"/>
              </a:rPr>
              <a:t>Python</a:t>
            </a:r>
          </a:p>
          <a:p>
            <a:pPr marL="285750" indent="-285750" algn="l">
              <a:lnSpc>
                <a:spcPct val="100000"/>
              </a:lnSpc>
              <a:spcBef>
                <a:spcPts val="0"/>
              </a:spcBef>
              <a:spcAft>
                <a:spcPts val="0"/>
              </a:spcAft>
              <a:buChar char="•"/>
            </a:pPr>
            <a:r>
              <a:rPr sz="1800" b="0" i="0" u="none" cap="none">
                <a:ln>
                  <a:noFill/>
                </a:ln>
                <a:solidFill>
                  <a:schemeClr val="tx1"/>
                </a:solidFill>
                <a:latin typeface="Times New Roman"/>
                <a:ea typeface="Times New Roman"/>
                <a:cs typeface="Times New Roman"/>
              </a:rPr>
              <a:t>Flask Framework</a:t>
            </a:r>
          </a:p>
          <a:p>
            <a:pPr marL="285750" indent="-285750" algn="l">
              <a:lnSpc>
                <a:spcPct val="100000"/>
              </a:lnSpc>
              <a:spcBef>
                <a:spcPts val="0"/>
              </a:spcBef>
              <a:spcAft>
                <a:spcPts val="0"/>
              </a:spcAft>
              <a:buChar char="•"/>
            </a:pPr>
            <a:r>
              <a:rPr sz="1800" b="0" i="0" u="none" cap="none">
                <a:ln>
                  <a:noFill/>
                </a:ln>
                <a:solidFill>
                  <a:schemeClr val="tx1"/>
                </a:solidFill>
                <a:latin typeface="Times New Roman"/>
                <a:ea typeface="Times New Roman"/>
                <a:cs typeface="Times New Roman"/>
              </a:rPr>
              <a:t>OpenCV</a:t>
            </a:r>
          </a:p>
          <a:p>
            <a:pPr marL="285750" indent="-285750">
              <a:spcBef>
                <a:spcPts val="0"/>
              </a:spcBef>
              <a:spcAft>
                <a:spcPts val="0"/>
              </a:spcAft>
              <a:buChar char="•"/>
            </a:pPr>
            <a:r>
              <a:rPr>
                <a:latin typeface="Times New Roman"/>
                <a:ea typeface="Times New Roman"/>
                <a:cs typeface="Times New Roman"/>
              </a:rPr>
              <a:t>TensorFlow / Keras</a:t>
            </a:r>
          </a:p>
          <a:p>
            <a:pPr marL="285750" indent="-285750">
              <a:spcBef>
                <a:spcPts val="0"/>
              </a:spcBef>
              <a:spcAft>
                <a:spcPts val="0"/>
              </a:spcAft>
              <a:buChar char="•"/>
            </a:pPr>
            <a:r>
              <a:rPr>
                <a:latin typeface="Times New Roman"/>
                <a:ea typeface="Times New Roman"/>
                <a:cs typeface="Times New Roman"/>
              </a:rPr>
              <a:t>SQLite / MySQL</a:t>
            </a:r>
          </a:p>
        </p:txBody>
      </p:sp>
      <p:pic>
        <p:nvPicPr>
          <p:cNvPr id="17" name="Picture 3"/>
          <p:cNvPicPr>
            <a:picLocks noChangeAspect="1"/>
          </p:cNvPicPr>
          <p:nvPr/>
        </p:nvPicPr>
        <p:blipFill>
          <a:blip r:embed="rId3"/>
          <a:stretch>
            <a:fillRect/>
          </a:stretch>
        </p:blipFill>
        <p:spPr>
          <a:xfrm>
            <a:off x="1262062" y="316773"/>
            <a:ext cx="9667875" cy="1000125"/>
          </a:xfrm>
          <a:prstGeom prst="rect">
            <a:avLst/>
          </a:prstGeom>
        </p:spPr>
      </p:pic>
      <p:sp>
        <p:nvSpPr>
          <p:cNvPr id="5" name="Rounded Rectangle 13">
            <a:extLst>
              <a:ext uri="{FF2B5EF4-FFF2-40B4-BE49-F238E27FC236}">
                <a16:creationId xmlns:a16="http://schemas.microsoft.com/office/drawing/2014/main" id="{B5709237-1EEE-24FB-ECD4-0F525FE5898E}"/>
              </a:ext>
            </a:extLst>
          </p:cNvPr>
          <p:cNvSpPr>
            <a:spLocks noGrp="1"/>
          </p:cNvSpPr>
          <p:nvPr/>
        </p:nvSpPr>
        <p:spPr>
          <a:xfrm>
            <a:off x="806241" y="6459153"/>
            <a:ext cx="10498238" cy="25293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chemeClr val="accent6">
                    <a:lumMod val="40000"/>
                    <a:lumOff val="60000"/>
                  </a:schemeClr>
                </a:solidFill>
                <a:latin typeface="Copperplate Gothic Bold"/>
                <a:ea typeface="Copperplate Gothic Bold"/>
                <a:cs typeface="Copperplate Gothic Bold"/>
              </a:rPr>
              <a:t>CSE </a:t>
            </a:r>
          </a:p>
        </p:txBody>
      </p:sp>
    </p:spTree>
    <p:extLst>
      <p:ext uri="{BB962C8B-B14F-4D97-AF65-F5344CB8AC3E}">
        <p14:creationId xmlns:p14="http://schemas.microsoft.com/office/powerpoint/2010/main" val="777327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22D79B-EEDC-410A-13D7-69607A68A258}"/>
              </a:ext>
            </a:extLst>
          </p:cNvPr>
          <p:cNvSpPr>
            <a:spLocks noGrp="1"/>
          </p:cNvSpPr>
          <p:nvPr/>
        </p:nvSpPr>
        <p:spPr>
          <a:xfrm>
            <a:off x="4503175" y="1966452"/>
            <a:ext cx="2279791" cy="461665"/>
          </a:xfrm>
          <a:prstGeom prst="rect">
            <a:avLst/>
          </a:prstGeom>
          <a:noFill/>
        </p:spPr>
        <p:txBody>
          <a:bodyPr wrap="none">
            <a:spAutoFit/>
          </a:bodyPr>
          <a:lstStyle/>
          <a:p>
            <a:r>
              <a:rPr sz="2400" b="1" u="sng">
                <a:latin typeface="Times New Roman"/>
                <a:ea typeface="Times New Roman"/>
                <a:cs typeface="Times New Roman"/>
              </a:rPr>
              <a:t>Existing System</a:t>
            </a:r>
          </a:p>
        </p:txBody>
      </p:sp>
      <p:sp>
        <p:nvSpPr>
          <p:cNvPr id="3" name="TextBox 2">
            <a:extLst>
              <a:ext uri="{FF2B5EF4-FFF2-40B4-BE49-F238E27FC236}">
                <a16:creationId xmlns:a16="http://schemas.microsoft.com/office/drawing/2014/main" id="{D9173E85-6311-0EBE-958E-4AC94B51F998}"/>
              </a:ext>
            </a:extLst>
          </p:cNvPr>
          <p:cNvSpPr>
            <a:spLocks noGrp="1"/>
          </p:cNvSpPr>
          <p:nvPr/>
        </p:nvSpPr>
        <p:spPr>
          <a:xfrm>
            <a:off x="918669" y="3096287"/>
            <a:ext cx="10565408" cy="2834640"/>
          </a:xfrm>
          <a:prstGeom prst="rect">
            <a:avLst/>
          </a:prstGeom>
          <a:noFill/>
        </p:spPr>
        <p:txBody>
          <a:bodyPr wrap="square">
            <a:spAutoFit/>
          </a:bodyPr>
          <a:lstStyle/>
          <a:p>
            <a:pPr>
              <a:buNone/>
            </a:pPr>
            <a:r>
              <a:t>Existing pneumonia diagnosis mainly depends on manual examination of chest X-ray images by radiologists or medical experts. Doctors observe the X-ray image and identify abnormal lung patterns such as opacity, infection, and inflammation.</a:t>
            </a:r>
          </a:p>
          <a:p>
            <a:pPr>
              <a:buNone/>
            </a:pPr>
            <a:endParaRPr/>
          </a:p>
          <a:p>
            <a:pPr>
              <a:buNone/>
            </a:pPr>
            <a:r>
              <a:t>Some existing computer-aided systems use basic image processing or traditional machine learning techniques for pneumonia detection. However, these systems may not perform well on complex X-ray images and often require handcrafted feature extraction.</a:t>
            </a:r>
          </a:p>
          <a:p>
            <a:pPr>
              <a:buNone/>
            </a:pPr>
            <a:endParaRPr/>
          </a:p>
          <a:p>
            <a:pPr>
              <a:buNone/>
            </a:pPr>
            <a:r>
              <a:t>This results in slower diagnosis, dependency on expert availability, limited automation, and reduced accuracy when image quality is poor or when many patients need screening.</a:t>
            </a:r>
          </a:p>
        </p:txBody>
      </p:sp>
      <p:pic>
        <p:nvPicPr>
          <p:cNvPr id="9" name="Picture 3"/>
          <p:cNvPicPr>
            <a:picLocks noChangeAspect="1"/>
          </p:cNvPicPr>
          <p:nvPr/>
        </p:nvPicPr>
        <p:blipFill>
          <a:blip r:embed="rId3"/>
          <a:stretch>
            <a:fillRect/>
          </a:stretch>
        </p:blipFill>
        <p:spPr>
          <a:xfrm>
            <a:off x="1367436" y="561371"/>
            <a:ext cx="9667875" cy="1000125"/>
          </a:xfrm>
          <a:prstGeom prst="rect">
            <a:avLst/>
          </a:prstGeom>
        </p:spPr>
      </p:pic>
      <p:sp>
        <p:nvSpPr>
          <p:cNvPr id="5" name="Rounded Rectangle 13">
            <a:extLst>
              <a:ext uri="{FF2B5EF4-FFF2-40B4-BE49-F238E27FC236}">
                <a16:creationId xmlns:a16="http://schemas.microsoft.com/office/drawing/2014/main" id="{6030E2D6-5810-688A-CE5D-C6EBAFC72938}"/>
              </a:ext>
            </a:extLst>
          </p:cNvPr>
          <p:cNvSpPr>
            <a:spLocks noGrp="1"/>
          </p:cNvSpPr>
          <p:nvPr/>
        </p:nvSpPr>
        <p:spPr>
          <a:xfrm>
            <a:off x="985839" y="6518147"/>
            <a:ext cx="10498238" cy="25293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chemeClr val="accent6">
                    <a:lumMod val="40000"/>
                    <a:lumOff val="60000"/>
                  </a:schemeClr>
                </a:solidFill>
                <a:latin typeface="Copperplate Gothic Bold"/>
                <a:ea typeface="Copperplate Gothic Bold"/>
                <a:cs typeface="Copperplate Gothic Bold"/>
              </a:rPr>
              <a:t>CSE </a:t>
            </a:r>
          </a:p>
        </p:txBody>
      </p:sp>
    </p:spTree>
    <p:extLst>
      <p:ext uri="{BB962C8B-B14F-4D97-AF65-F5344CB8AC3E}">
        <p14:creationId xmlns:p14="http://schemas.microsoft.com/office/powerpoint/2010/main" val="2320924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8F1445-57FF-09B4-6DDC-2F381A954F4F}"/>
              </a:ext>
            </a:extLst>
          </p:cNvPr>
          <p:cNvSpPr>
            <a:spLocks noGrp="1"/>
          </p:cNvSpPr>
          <p:nvPr/>
        </p:nvSpPr>
        <p:spPr>
          <a:xfrm>
            <a:off x="3266257" y="1442737"/>
            <a:ext cx="4211409" cy="461665"/>
          </a:xfrm>
          <a:prstGeom prst="rect">
            <a:avLst/>
          </a:prstGeom>
          <a:noFill/>
        </p:spPr>
        <p:txBody>
          <a:bodyPr wrap="none">
            <a:spAutoFit/>
          </a:bodyPr>
          <a:lstStyle/>
          <a:p>
            <a:r>
              <a:rPr sz="2400" b="1" u="sng">
                <a:latin typeface="Times New Roman"/>
                <a:ea typeface="Times New Roman"/>
                <a:cs typeface="Times New Roman"/>
              </a:rPr>
              <a:t>Limitations of Existing System</a:t>
            </a:r>
          </a:p>
        </p:txBody>
      </p:sp>
      <p:sp>
        <p:nvSpPr>
          <p:cNvPr id="3" name="TextBox 2">
            <a:extLst>
              <a:ext uri="{FF2B5EF4-FFF2-40B4-BE49-F238E27FC236}">
                <a16:creationId xmlns:a16="http://schemas.microsoft.com/office/drawing/2014/main" id="{DB4A420E-732F-8C74-6AEC-691C6665F111}"/>
              </a:ext>
            </a:extLst>
          </p:cNvPr>
          <p:cNvSpPr>
            <a:spLocks noGrp="1"/>
          </p:cNvSpPr>
          <p:nvPr/>
        </p:nvSpPr>
        <p:spPr>
          <a:xfrm>
            <a:off x="-4762500" y="-4762500"/>
            <a:ext cx="9525" cy="9525"/>
          </a:xfrm>
          <a:prstGeom prst="rect">
            <a:avLst/>
          </a:prstGeom>
          <a:noFill/>
        </p:spPr>
        <p:txBody>
          <a:bodyPr wrap="square">
            <a:spAutoFit/>
          </a:bodyPr>
          <a:lstStyle/>
          <a:p>
            <a:pPr marL="285750" indent="-285750">
              <a:buChar char="•"/>
              <a:defRPr sz="1575">
                <a:solidFill>
                  <a:srgbClr val="000000"/>
                </a:solidFill>
              </a:defRPr>
            </a:pPr>
            <a:endParaRPr/>
          </a:p>
        </p:txBody>
      </p:sp>
      <p:pic>
        <p:nvPicPr>
          <p:cNvPr id="11" name="Picture 3"/>
          <p:cNvPicPr>
            <a:picLocks noChangeAspect="1"/>
          </p:cNvPicPr>
          <p:nvPr/>
        </p:nvPicPr>
        <p:blipFill>
          <a:blip r:embed="rId3"/>
          <a:stretch>
            <a:fillRect/>
          </a:stretch>
        </p:blipFill>
        <p:spPr>
          <a:xfrm>
            <a:off x="1262062" y="316773"/>
            <a:ext cx="9667875" cy="1000125"/>
          </a:xfrm>
          <a:prstGeom prst="rect">
            <a:avLst/>
          </a:prstGeom>
        </p:spPr>
      </p:pic>
      <p:sp>
        <p:nvSpPr>
          <p:cNvPr id="5" name="Rounded Rectangle 13">
            <a:extLst>
              <a:ext uri="{FF2B5EF4-FFF2-40B4-BE49-F238E27FC236}">
                <a16:creationId xmlns:a16="http://schemas.microsoft.com/office/drawing/2014/main" id="{24BFE8C4-246D-E770-CCDE-818867923470}"/>
              </a:ext>
            </a:extLst>
          </p:cNvPr>
          <p:cNvSpPr>
            <a:spLocks noGrp="1"/>
          </p:cNvSpPr>
          <p:nvPr/>
        </p:nvSpPr>
        <p:spPr>
          <a:xfrm>
            <a:off x="806241" y="6459153"/>
            <a:ext cx="10498238" cy="25293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chemeClr val="accent6">
                    <a:lumMod val="40000"/>
                    <a:lumOff val="60000"/>
                  </a:schemeClr>
                </a:solidFill>
                <a:latin typeface="Copperplate Gothic Bold"/>
                <a:ea typeface="Copperplate Gothic Bold"/>
                <a:cs typeface="Copperplate Gothic Bold"/>
              </a:rPr>
              <a:t>CSE </a:t>
            </a:r>
          </a:p>
        </p:txBody>
      </p:sp>
      <p:sp>
        <p:nvSpPr>
          <p:cNvPr id="7" name="Cover old limitations bullets">
            <a:extLst>
              <a:ext uri="{FF2B5EF4-FFF2-40B4-BE49-F238E27FC236}">
                <a16:creationId xmlns:a16="http://schemas.microsoft.com/office/drawing/2014/main" id="{66B98F4D-9AEB-48FC-87B7-D22C31256EA7}"/>
              </a:ext>
            </a:extLst>
          </p:cNvPr>
          <p:cNvSpPr>
            <a:spLocks noGrp="1"/>
          </p:cNvSpPr>
          <p:nvPr/>
        </p:nvSpPr>
        <p:spPr>
          <a:xfrm>
            <a:off x="666750" y="2333625"/>
            <a:ext cx="10477500" cy="3714750"/>
          </a:xfrm>
          <a:prstGeom prst="rect">
            <a:avLst/>
          </a:prstGeom>
          <a:solidFill>
            <a:srgbClr val="FFFFFF"/>
          </a:solidFill>
          <a:ln w="0">
            <a:solidFill>
              <a:srgbClr val="FFFFFF"/>
            </a:solidFill>
            <a:prstDash val="solid"/>
          </a:ln>
        </p:spPr>
      </p:sp>
      <p:sp>
        <p:nvSpPr>
          <p:cNvPr id="8" name="Clean Limitations Text">
            <a:extLst>
              <a:ext uri="{FF2B5EF4-FFF2-40B4-BE49-F238E27FC236}">
                <a16:creationId xmlns:a16="http://schemas.microsoft.com/office/drawing/2014/main" id="{38ED718C-E649-4376-94E0-6094014EFBF8}"/>
              </a:ext>
            </a:extLst>
          </p:cNvPr>
          <p:cNvSpPr>
            <a:spLocks noGrp="1"/>
          </p:cNvSpPr>
          <p:nvPr/>
        </p:nvSpPr>
        <p:spPr>
          <a:xfrm>
            <a:off x="1000125" y="2457450"/>
            <a:ext cx="10096500" cy="3381375"/>
          </a:xfrm>
          <a:prstGeom prst="rect">
            <a:avLst/>
          </a:prstGeom>
          <a:noFill/>
          <a:ln w="0">
            <a:noFill/>
            <a:prstDash val="solid"/>
          </a:ln>
        </p:spPr>
        <p:txBody>
          <a:bodyPr/>
          <a:lstStyle/>
          <a:p>
            <a:pPr>
              <a:defRPr sz="1500">
                <a:solidFill>
                  <a:srgbClr val="000000"/>
                </a:solidFill>
              </a:defRPr>
            </a:pPr>
            <a:r>
              <a:rPr sz="1500">
                <a:solidFill>
                  <a:srgbClr val="000000"/>
                </a:solidFill>
              </a:rPr>
              <a:t>1. Manual Diagnosis Dependency: Diagnosis depends heavily on radiologists and medical experts.</a:t>
            </a:r>
          </a:p>
          <a:p>
            <a:endParaRPr sz="1500">
              <a:solidFill>
                <a:srgbClr val="000000"/>
              </a:solidFill>
            </a:endParaRPr>
          </a:p>
          <a:p>
            <a:pPr>
              <a:defRPr sz="1500">
                <a:solidFill>
                  <a:srgbClr val="000000"/>
                </a:solidFill>
              </a:defRPr>
            </a:pPr>
            <a:r>
              <a:rPr sz="1500">
                <a:solidFill>
                  <a:srgbClr val="000000"/>
                </a:solidFill>
              </a:rPr>
              <a:t>2. Time-Consuming Process: Manual X-ray analysis can take more time when patient load is high.</a:t>
            </a:r>
          </a:p>
          <a:p>
            <a:endParaRPr sz="1500">
              <a:solidFill>
                <a:srgbClr val="000000"/>
              </a:solidFill>
            </a:endParaRPr>
          </a:p>
          <a:p>
            <a:pPr>
              <a:defRPr sz="1500">
                <a:solidFill>
                  <a:srgbClr val="000000"/>
                </a:solidFill>
              </a:defRPr>
            </a:pPr>
            <a:r>
              <a:rPr sz="1500">
                <a:solidFill>
                  <a:srgbClr val="000000"/>
                </a:solidFill>
              </a:rPr>
              <a:t>3. Human Error Possibility: Fatigue, workload, and poor image quality may affect accuracy.</a:t>
            </a:r>
          </a:p>
          <a:p>
            <a:endParaRPr sz="1500">
              <a:solidFill>
                <a:srgbClr val="000000"/>
              </a:solidFill>
            </a:endParaRPr>
          </a:p>
          <a:p>
            <a:pPr>
              <a:defRPr sz="1500">
                <a:solidFill>
                  <a:srgbClr val="000000"/>
                </a:solidFill>
              </a:defRPr>
            </a:pPr>
            <a:r>
              <a:rPr sz="1500">
                <a:solidFill>
                  <a:srgbClr val="000000"/>
                </a:solidFill>
              </a:rPr>
              <a:t>4. Limited Automation: Traditional systems do not automatically classify pneumonia types.</a:t>
            </a:r>
          </a:p>
          <a:p>
            <a:endParaRPr sz="1500">
              <a:solidFill>
                <a:srgbClr val="000000"/>
              </a:solidFill>
            </a:endParaRPr>
          </a:p>
          <a:p>
            <a:pPr>
              <a:defRPr sz="1500">
                <a:solidFill>
                  <a:srgbClr val="000000"/>
                </a:solidFill>
              </a:defRPr>
            </a:pPr>
            <a:r>
              <a:rPr sz="1500">
                <a:solidFill>
                  <a:srgbClr val="000000"/>
                </a:solidFill>
              </a:rPr>
              <a:t>5. Lack of Visual Explanation: Many systems do not highlight affected lung regions clearly.</a:t>
            </a:r>
          </a:p>
          <a:p>
            <a:endParaRPr sz="1500">
              <a:solidFill>
                <a:srgbClr val="000000"/>
              </a:solidFill>
            </a:endParaRPr>
          </a:p>
          <a:p>
            <a:pPr>
              <a:defRPr sz="1500">
                <a:solidFill>
                  <a:srgbClr val="000000"/>
                </a:solidFill>
              </a:defRPr>
            </a:pPr>
            <a:r>
              <a:rPr sz="1500">
                <a:solidFill>
                  <a:srgbClr val="000000"/>
                </a:solidFill>
              </a:rPr>
              <a:t>6. Dataset and Generalization Issues: Models trained on limited datasets may not work well on real hospital data.</a:t>
            </a:r>
          </a:p>
        </p:txBody>
      </p:sp>
    </p:spTree>
    <p:extLst>
      <p:ext uri="{BB962C8B-B14F-4D97-AF65-F5344CB8AC3E}">
        <p14:creationId xmlns:p14="http://schemas.microsoft.com/office/powerpoint/2010/main" val="2892694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p:cNvPicPr>
          <p:nvPr/>
        </p:nvPicPr>
        <p:blipFill>
          <a:blip r:embed="rId3"/>
          <a:stretch>
            <a:fillRect/>
          </a:stretch>
        </p:blipFill>
        <p:spPr>
          <a:xfrm>
            <a:off x="1078784" y="674549"/>
            <a:ext cx="9667875" cy="1000125"/>
          </a:xfrm>
          <a:prstGeom prst="rect">
            <a:avLst/>
          </a:prstGeom>
        </p:spPr>
      </p:pic>
      <p:sp>
        <p:nvSpPr>
          <p:cNvPr id="4" name="TextBox 3">
            <a:extLst>
              <a:ext uri="{FF2B5EF4-FFF2-40B4-BE49-F238E27FC236}">
                <a16:creationId xmlns:a16="http://schemas.microsoft.com/office/drawing/2014/main" id="{95DE6196-9D91-88F0-E0B8-86C5C442A62C}"/>
              </a:ext>
            </a:extLst>
          </p:cNvPr>
          <p:cNvSpPr>
            <a:spLocks noGrp="1"/>
          </p:cNvSpPr>
          <p:nvPr/>
        </p:nvSpPr>
        <p:spPr>
          <a:xfrm>
            <a:off x="4404852" y="3202858"/>
            <a:ext cx="5535562" cy="769441"/>
          </a:xfrm>
          <a:prstGeom prst="rect">
            <a:avLst/>
          </a:prstGeom>
          <a:noFill/>
        </p:spPr>
        <p:txBody>
          <a:bodyPr wrap="square">
            <a:spAutoFit/>
          </a:bodyPr>
          <a:lstStyle/>
          <a:p>
            <a:r>
              <a:rPr sz="4400" b="1"/>
              <a:t>THANK YOU</a:t>
            </a:r>
          </a:p>
        </p:txBody>
      </p:sp>
      <p:sp>
        <p:nvSpPr>
          <p:cNvPr id="2" name="Rounded Rectangle 13">
            <a:extLst>
              <a:ext uri="{FF2B5EF4-FFF2-40B4-BE49-F238E27FC236}">
                <a16:creationId xmlns:a16="http://schemas.microsoft.com/office/drawing/2014/main" id="{A27C52C5-F03B-7798-1B5B-CE70E72F618D}"/>
              </a:ext>
            </a:extLst>
          </p:cNvPr>
          <p:cNvSpPr>
            <a:spLocks noGrp="1"/>
          </p:cNvSpPr>
          <p:nvPr/>
        </p:nvSpPr>
        <p:spPr>
          <a:xfrm>
            <a:off x="806241" y="6459153"/>
            <a:ext cx="10498238" cy="252936"/>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chemeClr val="accent6">
                    <a:lumMod val="40000"/>
                    <a:lumOff val="60000"/>
                  </a:schemeClr>
                </a:solidFill>
                <a:latin typeface="Copperplate Gothic Bold"/>
                <a:ea typeface="Copperplate Gothic Bold"/>
                <a:cs typeface="Copperplate Gothic Bold"/>
              </a:rPr>
              <a:t>CSE </a:t>
            </a:r>
          </a:p>
        </p:txBody>
      </p:sp>
    </p:spTree>
    <p:extLst>
      <p:ext uri="{BB962C8B-B14F-4D97-AF65-F5344CB8AC3E}">
        <p14:creationId xmlns:p14="http://schemas.microsoft.com/office/powerpoint/2010/main" val="3458218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757</Words>
  <Application>Microsoft Office PowerPoint</Application>
  <DocSecurity>0</DocSecurity>
  <PresentationFormat>Widescreen</PresentationFormat>
  <Paragraphs>81</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Calibri Light</vt:lpstr>
      <vt:lpstr>Copperplate Gothic Bold</vt:lpstr>
      <vt:lpstr>Times New Roman</vt:lpstr>
      <vt:lpstr>Times New Roman </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akshithachoudam@gmail.com</cp:lastModifiedBy>
  <cp:revision>1</cp:revision>
  <dcterms:created xsi:type="dcterms:W3CDTF">2026-06-26T13:05:11Z</dcterms:created>
  <dcterms:modified xsi:type="dcterms:W3CDTF">2026-06-26T13:06:51Z</dcterms:modified>
</cp:coreProperties>
</file>